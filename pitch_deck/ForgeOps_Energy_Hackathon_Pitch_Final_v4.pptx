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c2fe139fa44c9a" /><Relationship Type="http://schemas.openxmlformats.org/officeDocument/2006/relationships/extended-properties" Target="/docProps/app.xml" Id="Ra339977438e64761" /><Relationship Type="http://schemas.openxmlformats.org/officeDocument/2006/relationships/officeDocument" Target="/ppt/presentation.xml" Id="Rbe363cc3f45d49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c800031e1d4eb2"/>
  </p:sldMasterIdLst>
  <p:notesMasterIdLst>
    <p:notesMasterId xmlns:r="http://schemas.openxmlformats.org/officeDocument/2006/relationships" r:id="R18330e267f994446"/>
  </p:notesMasterIdLst>
  <p:sldIdLst>
    <p:sldId xmlns:r="http://schemas.openxmlformats.org/officeDocument/2006/relationships" id="256" r:id="Rb53f6e7943b54735"/>
    <p:sldId xmlns:r="http://schemas.openxmlformats.org/officeDocument/2006/relationships" id="257" r:id="Re1bfb56f1ae84b85"/>
    <p:sldId xmlns:r="http://schemas.openxmlformats.org/officeDocument/2006/relationships" id="258" r:id="Ra72f2ad651c24340"/>
    <p:sldId xmlns:r="http://schemas.openxmlformats.org/officeDocument/2006/relationships" id="259" r:id="R347ec5e84dc741d4"/>
    <p:sldId xmlns:r="http://schemas.openxmlformats.org/officeDocument/2006/relationships" id="260" r:id="Rc51ce9758a2d4a00"/>
    <p:sldId xmlns:r="http://schemas.openxmlformats.org/officeDocument/2006/relationships" id="261" r:id="R2f6aa3f8722e4106"/>
    <p:sldId xmlns:r="http://schemas.openxmlformats.org/officeDocument/2006/relationships" id="262" r:id="R0cbdbadb36e149f0"/>
    <p:sldId xmlns:r="http://schemas.openxmlformats.org/officeDocument/2006/relationships" id="263" r:id="R3780eb4d99714152"/>
    <p:sldId xmlns:r="http://schemas.openxmlformats.org/officeDocument/2006/relationships" id="264" r:id="Rf052fdf562a945e9"/>
    <p:sldId xmlns:r="http://schemas.openxmlformats.org/officeDocument/2006/relationships" id="265" r:id="R50fdb7406a884116"/>
    <p:sldId xmlns:r="http://schemas.openxmlformats.org/officeDocument/2006/relationships" id="266" r:id="R4c15d4d3b1104af8"/>
    <p:sldId xmlns:r="http://schemas.openxmlformats.org/officeDocument/2006/relationships" id="267" r:id="R69b6f8afc4a946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66a84bba1941ed" /><Relationship Type="http://schemas.openxmlformats.org/officeDocument/2006/relationships/slideMaster" Target="/ppt/slideMasters/slideMaster1.xml" Id="Rfbc800031e1d4eb2" /><Relationship Type="http://schemas.openxmlformats.org/officeDocument/2006/relationships/notesMaster" Target="/ppt/notesMasters/notesMaster1.xml" Id="R18330e267f994446" /><Relationship Type="http://schemas.openxmlformats.org/officeDocument/2006/relationships/presProps" Target="/ppt/presProps.xml" Id="R7a019533d5b04281" /><Relationship Type="http://schemas.openxmlformats.org/officeDocument/2006/relationships/tableStyles" Target="/ppt/tableStyles.xml" Id="R2ed85d6b612d48a4" /><Relationship Type="http://schemas.openxmlformats.org/officeDocument/2006/relationships/slide" Target="/ppt/slides/slide1.xml" Id="Rb53f6e7943b54735" /><Relationship Type="http://schemas.openxmlformats.org/officeDocument/2006/relationships/slide" Target="/ppt/slides/slide2.xml" Id="Re1bfb56f1ae84b85" /><Relationship Type="http://schemas.openxmlformats.org/officeDocument/2006/relationships/slide" Target="/ppt/slides/slide3.xml" Id="Ra72f2ad651c24340" /><Relationship Type="http://schemas.openxmlformats.org/officeDocument/2006/relationships/slide" Target="/ppt/slides/slide4.xml" Id="R347ec5e84dc741d4" /><Relationship Type="http://schemas.openxmlformats.org/officeDocument/2006/relationships/slide" Target="/ppt/slides/slide5.xml" Id="Rc51ce9758a2d4a00" /><Relationship Type="http://schemas.openxmlformats.org/officeDocument/2006/relationships/slide" Target="/ppt/slides/slide6.xml" Id="R2f6aa3f8722e4106" /><Relationship Type="http://schemas.openxmlformats.org/officeDocument/2006/relationships/slide" Target="/ppt/slides/slide7.xml" Id="R0cbdbadb36e149f0" /><Relationship Type="http://schemas.openxmlformats.org/officeDocument/2006/relationships/slide" Target="/ppt/slides/slide8.xml" Id="R3780eb4d99714152" /><Relationship Type="http://schemas.openxmlformats.org/officeDocument/2006/relationships/slide" Target="/ppt/slides/slide9.xml" Id="Rf052fdf562a945e9" /><Relationship Type="http://schemas.openxmlformats.org/officeDocument/2006/relationships/slide" Target="/ppt/slides/slide10.xml" Id="R50fdb7406a884116" /><Relationship Type="http://schemas.openxmlformats.org/officeDocument/2006/relationships/slide" Target="/ppt/slides/slide11.xml" Id="R4c15d4d3b1104af8" /><Relationship Type="http://schemas.openxmlformats.org/officeDocument/2006/relationships/slide" Target="/ppt/slides/slide12.xml" Id="R69b6f8afc4a946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a272f423a045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e37d4e8d85453f" /><Relationship Type="http://schemas.openxmlformats.org/officeDocument/2006/relationships/notesMaster" Target="/ppt/notesMasters/notesMaster1.xml" Id="R40244e5fe1924b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7985807f6a47dd" /><Relationship Type="http://schemas.openxmlformats.org/officeDocument/2006/relationships/notesMaster" Target="/ppt/notesMasters/notesMaster1.xml" Id="R3fed74d8098349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fcc981a91b4dc7" /><Relationship Type="http://schemas.openxmlformats.org/officeDocument/2006/relationships/notesMaster" Target="/ppt/notesMasters/notesMaster1.xml" Id="Reb703c0cb33244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01f7e6ee1e4592" /><Relationship Type="http://schemas.openxmlformats.org/officeDocument/2006/relationships/notesMaster" Target="/ppt/notesMasters/notesMaster1.xml" Id="Rc279bd81738240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a06e29f0ea4336" /><Relationship Type="http://schemas.openxmlformats.org/officeDocument/2006/relationships/notesMaster" Target="/ppt/notesMasters/notesMaster1.xml" Id="R99d7b927949546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06a994bbf04241" /><Relationship Type="http://schemas.openxmlformats.org/officeDocument/2006/relationships/notesMaster" Target="/ppt/notesMasters/notesMaster1.xml" Id="R17cfe9b092114e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2d39833e2b40e3" /><Relationship Type="http://schemas.openxmlformats.org/officeDocument/2006/relationships/notesMaster" Target="/ppt/notesMasters/notesMaster1.xml" Id="Rca23c351ffbf4c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bd914018814160" /><Relationship Type="http://schemas.openxmlformats.org/officeDocument/2006/relationships/notesMaster" Target="/ppt/notesMasters/notesMaster1.xml" Id="Rb3515c1329e348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8ee56828d144f7" /><Relationship Type="http://schemas.openxmlformats.org/officeDocument/2006/relationships/notesMaster" Target="/ppt/notesMasters/notesMaster1.xml" Id="Rf61852506ba848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127b28fb4a45ab" /><Relationship Type="http://schemas.openxmlformats.org/officeDocument/2006/relationships/notesMaster" Target="/ppt/notesMasters/notesMaster1.xml" Id="R0138911999db42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bb92749d3248da" /><Relationship Type="http://schemas.openxmlformats.org/officeDocument/2006/relationships/notesMaster" Target="/ppt/notesMasters/notesMaster1.xml" Id="Rc7efc587f8d546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6a30fb14544fb0" /><Relationship Type="http://schemas.openxmlformats.org/officeDocument/2006/relationships/notesMaster" Target="/ppt/notesMasters/notesMaster1.xml" Id="R35474e4a1ba043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problem framing. The 9.8 and 11.2 kWh/t readings and +14.3% anomaly are from the repository’s synthetic Belgaum foundry fixture, not measured plant data. Challenge context supplied by the team describes limited real-time visibility and high energy cost exposure in SMEs. Design study: PitchDeckInspo’s climate category and Dandelion Energy’s public deck teardown informed the concise problem-first narrative and quantified opening; no company slide or claim was copied. Sources: https://www.pitchdeckinspo.com/categories/Climate and https://startupfundraising.com/library/articles/dandelion-energy-pitch-deck-teardown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 loop is based on the current repository workflow and user-supplied challenge. Plant I/O, physical dispatch and independently verified savings are deployment targets, not connections in the current live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mirrors the requested hackathon outcomes. Current-product status is cross-checked against README.md and implementation_plan/06_built_so_far.md in the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user journey for the Belgaum synthetic case. The interface includes investigation, simulation and approval concepts; external CMMS dispatch and real-world verification are not 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status: React/TypeScript workbench, FastAPI backend, four-role pipeline, typed MCP tools and deterministic simulation exist in the repository. The live deployment exposes synthetic demo data. Plant sensors, PLC/SCADA, MES, CMMS, QMS and ERP connections are integration targets. Sol-2B model card: https://huggingface.co/vllm-sr/Decision-2.0-Sol-2B ; local CUDA device visibility has not been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innovation claim is the design of a two-stage industrial decision loop with deterministic guardrails, evidence gathering and human approval. Sol-2B is not described as currently running.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synthetic Belgaum fixture and implementation_plan/06_built_so_far.md. 9.8 kWh/t baseline, 11.2 incident, 9.2 modeled option; 10.2 t/h throughput and 97.6% yield are synthetic scenario values. The 18% is calculated from 11.2 to 9.2 and is a modeled case improvement from the incident spike. Relative to the normal 9.8 baseline, 9.2 is 6.1% lower. No measured savings or field M&amp;V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roadmap, not a committed schedule. Pilot success gates are recommended acceptance criteria and should be agreed with the participating plant.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Names and role ownership are taken from implementation_plan/05_team_role_divide_plan.md.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screenshot captured from the current local ForgeOps Energy app build on 2026-10-04. The application visibly labels plant values as synthetic demonstration fixtures; no live factory adapter or plant control is connected. Hosted product: https://forge-ops-energy.vercel.app/ . Git remote: https://github.com/shalcoder/ForgeOps-Energy (public access was not confirmed). The hosted site may be an earlier deployment than this local source snapshot.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screenshot captured from the current local ForgeOps Energy app build on 2026-10-04. The investigation view uses synthetic demonstration data. Agent labels and workflow demonstrate the prototype; no real plant telemetry or CMMS integration is connected. Website: https://forge-ops-energy.vercel.app/ . Repository: https://github.com/shalcoder/ForgeOps-Energy (public access was not confirmed).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scheme sources: BEE ADEETIE overview https://www.beeindia.gov.in/show_content.php?lang=1&amp;level=1&amp;lid=384&amp;ls_id=234 (scheme support and eligible loan interest subvention); SIDHIEE scheme details https://sidhiee.beeindia.gov.in/ProjectComponent/ADEETIE (5% for micro/small and 3% medium enterprises, subject to conditions). Pricing is a ForgeOps Energy planning assumption. Arithmetic: 3,650,000 kWh × ₹7.80 = ₹28,470,000 = ₹2.847 crore baseline bill; 10% savings = 365,000 kWh and ₹2,847,000 = ₹28.47 lakh gross annual savings; subtract ₹72,000 annual subscription = ₹2,775,000 net operating benefit; ₹120,000 / (₹2,775,000 / 12) = 0.52 months simple payback. Assumed emissions factor 0.82 kg CO2e/kWh yields 299.3 tCO2e/year if the same boundary applies. All unit economics are illustrative and unverified; no saving or incentive is guaranteed. Repository URL is https://github.com/shalcoder/ForgeOps-Energy; public access was not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5c9e01234a40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8228bc33604f05" /><Relationship Type="http://schemas.openxmlformats.org/officeDocument/2006/relationships/slideLayout" Target="/ppt/slideLayouts/slideLayout1.xml" Id="Rd011b216f4ae43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11b216f4ae43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9f8cfa9af4ab0" /><Relationship Type="http://schemas.openxmlformats.org/officeDocument/2006/relationships/notesSlide" Target="/ppt/notesSlides/notesSlide1.xml" Id="Rcce636ae7ec747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ade814eb843f5" /><Relationship Type="http://schemas.openxmlformats.org/officeDocument/2006/relationships/notesSlide" Target="/ppt/notesSlides/notesSlide2.xml" Id="R9cd415a3cc8b42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e26a8f72d403a" /><Relationship Type="http://schemas.openxmlformats.org/officeDocument/2006/relationships/notesSlide" Target="/ppt/notesSlides/notesSlide3.xml" Id="Rcf9b9bc9e9dd49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1c95efb4249f3" /><Relationship Type="http://schemas.openxmlformats.org/officeDocument/2006/relationships/notesSlide" Target="/ppt/notesSlides/notesSlide4.xml" Id="R5859cccae0a64b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316b3c1304158" /><Relationship Type="http://schemas.openxmlformats.org/officeDocument/2006/relationships/notesSlide" Target="/ppt/notesSlides/notesSlide5.xml" Id="R130f33af147049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62cf485994fdc" /><Relationship Type="http://schemas.openxmlformats.org/officeDocument/2006/relationships/notesSlide" Target="/ppt/notesSlides/notesSlide6.xml" Id="Rdf31714678c840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c20d91a3647d1" /><Relationship Type="http://schemas.openxmlformats.org/officeDocument/2006/relationships/notesSlide" Target="/ppt/notesSlides/notesSlide7.xml" Id="R3315f970739043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6c27622594bb4" /><Relationship Type="http://schemas.openxmlformats.org/officeDocument/2006/relationships/notesSlide" Target="/ppt/notesSlides/notesSlide8.xml" Id="Rf2f2db20c98f4c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b6d6791e54da5" /><Relationship Type="http://schemas.openxmlformats.org/officeDocument/2006/relationships/notesSlide" Target="/ppt/notesSlides/notesSlide9.xml" Id="R162e30b4683a4d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9253802514b7b" /><Relationship Type="http://schemas.openxmlformats.org/officeDocument/2006/relationships/image" Target="/ppt/media/image.png" Id="Rfe9fbb9e0f43447a" /><Relationship Type="http://schemas.openxmlformats.org/officeDocument/2006/relationships/hyperlink" Target="https://forge-ops-energy.vercel.app/" TargetMode="External" Id="Rb6ee23ed712b4d73" /><Relationship Type="http://schemas.openxmlformats.org/officeDocument/2006/relationships/hyperlink" Target="https://github.com/shalcoder/ForgeOps-Energy" TargetMode="External" Id="R5147a468c7d7466f" /><Relationship Type="http://schemas.openxmlformats.org/officeDocument/2006/relationships/notesSlide" Target="/ppt/notesSlides/notesSlide10.xml" Id="Rfd30624d87f047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48eb1d5974ca3" /><Relationship Type="http://schemas.openxmlformats.org/officeDocument/2006/relationships/image" Target="/ppt/media/image2.png" Id="R9e62bdb1ba454fa3" /><Relationship Type="http://schemas.openxmlformats.org/officeDocument/2006/relationships/hyperlink" Target="https://forge-ops-energy.vercel.app/" TargetMode="External" Id="R7b9c366a2e7147e0" /><Relationship Type="http://schemas.openxmlformats.org/officeDocument/2006/relationships/hyperlink" Target="https://github.com/shalcoder/ForgeOps-Energy" TargetMode="External" Id="Rd8a4d31f8a454eab" /><Relationship Type="http://schemas.openxmlformats.org/officeDocument/2006/relationships/notesSlide" Target="/ppt/notesSlides/notesSlide11.xml" Id="Rf8b8b2f1eca041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e0932e4424176" /><Relationship Type="http://schemas.openxmlformats.org/officeDocument/2006/relationships/hyperlink" Target="https://github.com/shalcoder/ForgeOps-Energy" TargetMode="External" Id="R2055483be7964278" /><Relationship Type="http://schemas.openxmlformats.org/officeDocument/2006/relationships/notesSlide" Target="/ppt/notesSlides/notesSlide12.xml" Id="R7feb44cdd02641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731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611DC4-B021-4DCA-9A99-5E18D670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FORGEOPS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F9FDB-7153-4BB9-91B5-44D6F910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EB9B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EB9B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A2F37-C1D1-4448-91D0-DFEADDAD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A8C2D-6F37-456D-9C9C-A7903072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651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CD0AF-720B-4DDA-AFEC-627DF5E8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914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AEB9B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EB9B3"/>
                </a:solidFill>
                <a:latin typeface="Arial"/>
                <a:ea typeface="Arial"/>
                <a:cs typeface="Arial"/>
              </a:rPr>
              <a:t>INDUSTRIAL ENERGY DECISION SUPPORT  ·  HACKATHON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738F5-7F23-4640-970B-84E1DF53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AEB9B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EB9B3"/>
                </a:solidFill>
                <a:latin typeface="Arial"/>
                <a:ea typeface="Arial"/>
                <a:cs typeface="Arial"/>
              </a:rPr>
              <a:t>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6153A-E131-494D-A51F-923E1A18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3B3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3B38A"/>
                </a:solidFill>
                <a:latin typeface="Arial"/>
                <a:ea typeface="Arial"/>
                <a:cs typeface="Arial"/>
              </a:rPr>
              <a:t>INDIAN SME MANUFACTURING  /  FOUNDRY &amp; FORGING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F095A-F597-4918-89D5-1653E819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6572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Energy waste hides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between the meter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the machine.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51D16-8BFB-4EE5-A5CE-AF334230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95750"/>
            <a:ext cx="604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893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1D8D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8D3"/>
                </a:solidFill>
                <a:latin typeface="Arial"/>
                <a:ea typeface="Arial"/>
                <a:cs typeface="Arial"/>
              </a:rPr>
              <a:t>Plant teams see the monthly bill. They often lack a trusted, machine-level view of what changed, why it changed, and which fix preserves output.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A12FC-87CD-48E6-A003-DC6E8E49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71650"/>
            <a:ext cx="392430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313D39"/>
          </a:solidFill>
          <a:ln xmlns:a="http://schemas.openxmlformats.org/drawingml/2006/main" w="14288">
            <a:solidFill>
              <a:srgbClr val="5663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A6C7A4-EE45-452F-A8F5-57A3D338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193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B7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B78B"/>
                </a:solidFill>
                <a:latin typeface="Arial"/>
                <a:ea typeface="Arial"/>
                <a:cs typeface="Arial"/>
              </a:rPr>
              <a:t>BELGAUM FOUNDRY · SYNTHETIC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2361F-4CF7-4365-80DF-A0C9EDEF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5745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9.8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342C3-0FA0-4099-BD8B-3092CD23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574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09B7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09B79"/>
                </a:solidFill>
                <a:latin typeface="Arial"/>
                <a:ea typeface="Arial"/>
                <a:cs typeface="Arial"/>
              </a:rPr>
              <a:t>11.2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D73E6-5DB9-40E1-A209-60B32AD4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1D8D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1D8D3"/>
                </a:solidFill>
                <a:latin typeface="Arial"/>
                <a:ea typeface="Arial"/>
                <a:cs typeface="Arial"/>
              </a:rPr>
              <a:t>BASELINE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D1D8D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1D8D3"/>
                </a:solidFill>
                <a:latin typeface="Arial"/>
                <a:ea typeface="Arial"/>
                <a:cs typeface="Arial"/>
              </a:rPr>
              <a:t>kWh per good tonne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5F054F-B139-404D-9EA1-AB1571AC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575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1D8D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1D8D3"/>
                </a:solidFill>
                <a:latin typeface="Arial"/>
                <a:ea typeface="Arial"/>
                <a:cs typeface="Arial"/>
              </a:rPr>
              <a:t>INCIDENT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D1D8D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1D8D3"/>
                </a:solidFill>
                <a:latin typeface="Arial"/>
                <a:ea typeface="Arial"/>
                <a:cs typeface="Arial"/>
              </a:rPr>
              <a:t>kWh per good tonne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2AD9D2-39C2-4014-8994-52629E26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010025"/>
            <a:ext cx="32766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65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4E20E-BA9E-4A6C-9C7F-421A98DD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238625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09B7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09B79"/>
                </a:solidFill>
                <a:latin typeface="Arial"/>
                <a:ea typeface="Arial"/>
                <a:cs typeface="Arial"/>
              </a:rPr>
              <a:t>+14.3%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1C4F74-D0B7-4201-BCFB-8C972481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33875"/>
            <a:ext cx="1657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1D8D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1D8D3"/>
                </a:solidFill>
                <a:latin typeface="Arial"/>
                <a:ea typeface="Arial"/>
                <a:cs typeface="Arial"/>
              </a:rPr>
              <a:t>specific energy intensity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AA86CD-36FE-4CE1-A498-FED63F5E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EB9B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EB9B3"/>
                </a:solidFill>
                <a:latin typeface="Arial"/>
                <a:ea typeface="Arial"/>
                <a:cs typeface="Arial"/>
              </a:rPr>
              <a:t>A decision-support prototype for energy-intensive Indian SMEs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ABDBB8-38B2-4108-AD02-644FC5A6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2495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1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0D774-F67C-48B7-88B4-E220604D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62650"/>
            <a:ext cx="2324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E8C6A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C6A5"/>
                </a:solidFill>
                <a:latin typeface="Arial"/>
                <a:ea typeface="Arial"/>
                <a:cs typeface="Arial"/>
              </a:rPr>
              <a:t>SCENARIO VALUES ARE SYNTHETIC</a:t>
            </a:r>
          </a:p>
        </p:txBody>
      </p:sp>
    </p:spTree>
    <p:extLst>
      <p:ext uri="{BB962C8B-B14F-4D97-AF65-F5344CB8AC3E}">
        <p14:creationId xmlns:p14="http://schemas.microsoft.com/office/powerpoint/2010/main" val="17668084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6D2BA9-A85E-4004-AB3A-CD964EE7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FORGEOPS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1B20D-3549-4538-90FA-7F881198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7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34A69-5FC8-44C6-9240-AAC92B09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B6BF4-7BA4-4523-8993-9559F42E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390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AD6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20A10-D51B-4F07-8EFF-EC47FFA4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914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INDUSTRIAL ENERGY DECISION SUPPORT  ·  HACKATHON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3C4D8-7A2A-4C34-984F-9BCA7BE2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88945-DB81-492A-96D2-DD3D4594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Turn a spike into an evidence-backed intervention—with a person still in control.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870E1-4F8B-46CA-BE2B-08035E4E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CCDF8-9826-45C1-988C-7CCFDB59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847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5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B1C41-19EE-4F17-96E1-E0FEC795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Sense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1EEAE-AD88-4BD4-A24A-F45B249F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82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Normalize meter, machine and production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1A4CD-A095-4424-B899-0BDE99E7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76500" y="27146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A99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CC337-F3BC-4563-B101-698EC20E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47950"/>
            <a:ext cx="142875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7A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7B0CE-5661-489D-B2CF-9F52164D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B940B-E826-43D8-BD8E-8C03081B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05100"/>
            <a:ext cx="1847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5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D09211-29F6-40E2-9E91-16BD972E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05125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Triage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E2F867-C282-4E40-9BA9-5633D696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19475"/>
            <a:ext cx="182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Compare SEC against the line baseline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284F99-CD3E-41F8-8221-92DFB090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24400" y="27146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A99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B728ED-D04A-4C44-B529-FFF6C7F2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47950"/>
            <a:ext cx="142875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7A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F6AC38-CA34-4E87-A578-F921B5CF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860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6E1932-FFBE-484A-B1CA-31981F0F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05100"/>
            <a:ext cx="1847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5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20373D-EDC1-437F-8DBE-D46B74DD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05125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Investigate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8FB491-F11B-49F9-8BF6-51395920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19475"/>
            <a:ext cx="182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Gather evidence and test competing causes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6844E4-53EF-491A-B26F-9BB6C01E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72300" y="27146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A99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55A6C6-EEF8-4625-9C73-2D440F78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47950"/>
            <a:ext cx="142875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7A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29012A-ED24-4E45-9386-0F183F91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860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E30438-F850-426C-9CE8-CEF1E42E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05100"/>
            <a:ext cx="1847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5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DC22A8-22C4-4F4C-9694-4591D5EE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05125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Simulate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194AB2-BB1D-4963-9F11-63588C9F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19475"/>
            <a:ext cx="182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Compare cost, downtime and safety limits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622519-62C6-482C-8B7A-1C464722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220200" y="27146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A99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34E2A8-D6FC-4E4D-9D5B-A31DB122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47950"/>
            <a:ext cx="142875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7A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13C114-A3B9-414D-B9CE-9BF7D5BA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860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A9601B-0D7A-4D16-ABCD-34FEFE25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05100"/>
            <a:ext cx="1847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02F3B8-842F-4387-BD4C-1F33073D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05125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536D51-06AB-43CE-B5EF-0F17947B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19475"/>
            <a:ext cx="182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Operator approves; measure the result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96BBF2-83EC-4C87-81EF-E842FE41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7D7AD8-F589-42DA-A763-24527CBA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DESIGN PRINCIPLE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B5844E-4504-41A9-A17F-F28D4177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Optimize kWh per good tonne, subject to throughput, quality and safety constraints.</a:t>
            </a:r>
          </a:p>
        </p:txBody>
      </p:sp>
    </p:spTree>
    <p:extLst>
      <p:ext uri="{BB962C8B-B14F-4D97-AF65-F5344CB8AC3E}">
        <p14:creationId xmlns:p14="http://schemas.microsoft.com/office/powerpoint/2010/main" val="11946360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6E29E4-4D46-46A8-9942-6A49A10F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FORGEOPS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09D15-F6B6-4DA0-8ABE-9C66927C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7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31428-7B77-4F7F-A347-20503F54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Alignment to the Selected Challenge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39FDA-B8C7-4198-B8D2-4C1E2BBC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390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AD6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D8013-77F9-409D-BC43-97054FAA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914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INDUSTRIAL ENERGY DECISION SUPPORT  ·  HACKATHON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DA1E3-2DA3-46CE-BAB9-03DD6F90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2D7B2-E5EA-490B-B015-A38624BB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8957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The challenge asks for practical efficiency gains without disrupting production. Here is how the prototype maps to that brief.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E929B-F36E-4717-A61E-E1898326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3752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CHALLENGE REQUIREMENT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CBEEB-E272-43F1-9BB0-3F4EEFF5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52650"/>
            <a:ext cx="689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FORGEOPS ENERGY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DEBD0-193A-4DF1-8899-15B5169B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8650" y="3048000"/>
            <a:ext cx="1091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5C395C-4A33-4082-ADF3-FE767EB3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3590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Measure energy 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914C5-C25A-415B-8C16-C28CC70C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4317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SEC baseline and anomaly view by line / asset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D51D2A-38AF-4721-A047-BE84AF29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EFBC8-C89D-4E64-BF6E-12F1204C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8650" y="3657600"/>
            <a:ext cx="1091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81D8A-F277-4D15-879E-BDFE55A0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52775"/>
            <a:ext cx="3590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Find the cause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B1758-FE61-45BD-92D4-DE209606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5277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Four-role investigation flow with typed evidence 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67E3A9-CBB8-4C45-B486-554CCA74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95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E7166F-F8AC-43FA-83A6-F0FE3E5A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8650" y="4267200"/>
            <a:ext cx="1091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E35B47-BFB9-4EE1-8CDC-787B2E48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62375"/>
            <a:ext cx="3590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Protect production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5B269E-86F3-457B-A4EF-89CD68D4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6237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What-if options checked against output, quality and safety constraints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3D1025-22D0-42E3-86BF-25EE48F9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876ACC-1B7D-4A35-8645-967187B1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8650" y="4876800"/>
            <a:ext cx="1091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DF12FE-8A9E-480E-BDDE-C2042E72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71975"/>
            <a:ext cx="3590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Prove the benefit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E62EF9-2D7D-4873-8AE5-1DDA35A2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37197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Baseline-to-scenario comparison; field M&amp;V is a pilot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5A7347-BFCD-454C-A7A8-F7C50008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4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E3338B-A664-417C-9796-A349AE07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8650" y="5486400"/>
            <a:ext cx="1091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2188CA-A688-4279-9D0A-4CD6040B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3590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Fit SME conditions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B5A066-EB66-493C-A4A7-C6E5DF3C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98157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Retrofit-first, vendor-neutral interfaces and staged deployment plan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90E655-2F5D-4288-BBE8-D3074068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124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B88717-B016-4704-A536-4F0604FF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24525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D13F99-585A-49B0-816C-9535E86C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43575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8C64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C642D"/>
                </a:solidFill>
                <a:latin typeface="Arial"/>
                <a:ea typeface="Arial"/>
                <a:cs typeface="Arial"/>
              </a:rPr>
              <a:t>PROTOTYPE TODAY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975906-17D7-4539-854E-3157FAC2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74357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Synthetic fixtures · no live OT adapter · no field-verified savings</a:t>
            </a:r>
          </a:p>
        </p:txBody>
      </p:sp>
    </p:spTree>
    <p:extLst>
      <p:ext uri="{BB962C8B-B14F-4D97-AF65-F5344CB8AC3E}">
        <p14:creationId xmlns:p14="http://schemas.microsoft.com/office/powerpoint/2010/main" val="18694728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9D482E-8FB4-49B4-83C5-29797DC2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FORGEOPS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7322C-ACCA-4597-B4EE-B40BBEB6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7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91DF9-95E2-4AA8-8D3A-A683004B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Key Features or User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6C908-A849-45D9-8C1A-6E527F44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390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AD6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6B2EC-1330-45D4-8C02-28335C38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914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INDUSTRIAL ENERGY DECISION SUPPORT  ·  HACKATHON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F8C86-9A98-499E-9818-20FCB327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E08C3-F838-4435-9F88-0361FFD3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One incident, five clear operator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5ACBD-0374-4710-85B6-A82E6D73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28750" y="2714625"/>
            <a:ext cx="929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B5A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1B262-0610-42CB-B736-26C3048B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86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928C3-DEDC-49C5-A21B-17E3017A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71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1F411-DEAE-408D-A654-8FB79FFE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Notice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1FD64-A73D-42BB-A9DF-5337ACBA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90925"/>
            <a:ext cx="1981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Line 2 SEC rises above its 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E749A7-7085-44A5-98DB-8CA1AD35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86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CCA1F-36DA-4567-951B-E2D7CE3B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71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9A804-D85C-45AB-A93E-1E5FE4B0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Investigate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F9412-F530-482E-9DDD-F9AACC39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90925"/>
            <a:ext cx="1981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Review compressor, pressure and quality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8B3B92-0397-484F-82A5-9D284B3A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86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214324-6839-45D3-B98C-874D2AC9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71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FF670E-9F99-4F1F-AC64-D16ADCDE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432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0361FB-69D7-440B-AFA9-B49DA01E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90925"/>
            <a:ext cx="1981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Test repair and operating scenarios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24C791-94CB-4F57-8155-D9E45FDC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86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95F33C-CA2D-4572-8954-99B73CA9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6A83AD-563A-4715-9B19-5FB7211E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ECD8E0-06A1-41F8-97FF-F28170C2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90925"/>
            <a:ext cx="1981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Plant lead reviews risk, cost and downtime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284957-999B-4C52-B013-D503A824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486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E75A99-C812-4378-8A45-A6E6D3DC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571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1AF4AC-E56C-4A5E-A6A9-F2E6B60D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432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954433-627D-4AD3-93A7-CB57592C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90925"/>
            <a:ext cx="1981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Compare normalized post-action SEC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ED5C45-72CB-44B3-9E4F-F36BF929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10934700" cy="1057275"/>
          </a:xfrm>
          <a:prstGeom xmlns:a="http://schemas.openxmlformats.org/drawingml/2006/main" prst="roundRect">
            <a:avLst>
              <a:gd name="adj" fmla="val 12613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E44E34-31B6-4B58-9FE6-22A02F85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9339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HUMAN GATE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950248-36F4-4BBC-8709-84921427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219700"/>
            <a:ext cx="10239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876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The system recommends and prepares a decision. A plant role owns approval; automated machine control is out of scope.</a:t>
            </a:r>
          </a:p>
        </p:txBody>
      </p:sp>
    </p:spTree>
    <p:extLst>
      <p:ext uri="{BB962C8B-B14F-4D97-AF65-F5344CB8AC3E}">
        <p14:creationId xmlns:p14="http://schemas.microsoft.com/office/powerpoint/2010/main" val="11158179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7EA9100-4099-4D79-A8FB-272EB53B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FORGEOPS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DDB65-BD9C-4C64-B7FE-5B8BA2EB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7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92D51-F1C1-4C09-B7B8-8C2A0C5E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Technical Approach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C27A8-F281-49C0-98F2-3CD8F9DC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390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AD6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C0043-6E28-4496-B499-E68A9B0B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914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INDUSTRIAL ENERGY DECISION SUPPORT  ·  HACKATHON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FC486-3C5D-487B-9880-30524307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3381E-EFC6-44CB-8B7B-9E9F23A7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A retrofit-friendly decision layer sits above existing plant systems.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96415-906C-4C10-9236-7C185E2C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23812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578CA-2BDA-4DDE-8A35-423BDAED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PLANT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A7DDA-A665-4553-BF7E-EAA11DC6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827"/>
                </a:solidFill>
                <a:latin typeface="Arial"/>
                <a:ea typeface="Arial"/>
                <a:cs typeface="Arial"/>
              </a:rPr>
              <a:t>Meters · compressor · furnace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4897F-454F-422B-8317-ECE2A91B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38475" y="26193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978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0E3A8-79B3-4578-875D-43D5D162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142875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97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7C80F-F7E3-4160-B1F6-24D50CD3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23812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770F1F-55BC-4048-9EAB-18736778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Plant historian / 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A98773-EF7B-42CE-87F5-411A4182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827"/>
                </a:solidFill>
                <a:latin typeface="Arial"/>
                <a:ea typeface="Arial"/>
                <a:cs typeface="Arial"/>
              </a:rPr>
              <a:t>Production · quality · events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1F7A4B-D58E-48A0-959A-280DA30E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38475" y="36480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978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B06A10-2A24-4C2B-9147-6882F367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81400"/>
            <a:ext cx="142875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97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73D33B-0E7D-4864-BB1B-71CB94DF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23812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7CF0F9-5678-4954-B9ED-7A920A6E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ERP / CMMS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457ADD-F7AE-4722-B92A-C726852E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827"/>
                </a:solidFill>
                <a:latin typeface="Arial"/>
                <a:ea typeface="Arial"/>
                <a:cs typeface="Arial"/>
              </a:rPr>
              <a:t>Tariff · work-order 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EB9B10-EF79-4A1C-8845-CCD6A507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38475" y="46767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978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B9EF04-8E07-45D3-8BC5-3691D44B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0100"/>
            <a:ext cx="142875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97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522CD4-01B2-44B6-88F6-CCCD393A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57425"/>
            <a:ext cx="23812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3E9DB"/>
          </a:solidFill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D3BF95-C9A8-4B8A-9454-7ECB6809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622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EDGE &amp; BASELINE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AABDAC-A74E-4895-A418-EEB3B949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098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827"/>
                </a:solidFill>
                <a:latin typeface="Arial"/>
                <a:ea typeface="Arial"/>
                <a:cs typeface="Arial"/>
              </a:rPr>
              <a:t>Normalize · buffer · baseline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BC6F5F-20C0-470C-AA25-C07BB887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781675" y="26193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978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C4B8FB-7789-42C6-8D26-834757E5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52700"/>
            <a:ext cx="142875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97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F1C9A2-CEE9-455E-8D69-023C6A3F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86125"/>
            <a:ext cx="23812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3E9DB"/>
          </a:solidFill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589C2C-18C2-4AA9-8D90-FCC5194E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909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SYSTEM 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AF7619-2075-44E0-A0BB-C30B5A65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965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827"/>
                </a:solidFill>
                <a:latin typeface="Arial"/>
                <a:ea typeface="Arial"/>
                <a:cs typeface="Arial"/>
              </a:rPr>
              <a:t>Fast anomaly triage + guardrails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7B1DA1-0CAA-4DD7-BD0A-F7EF768C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781675" y="36480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978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0B091B-F9EC-4BA4-8FFC-E7B26BA3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81400"/>
            <a:ext cx="142875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97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05123F-CC1B-468C-A0D5-A07FF729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14825"/>
            <a:ext cx="23812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3E9DB"/>
          </a:solidFill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F10BE9-B7C7-4601-9EAC-EEC38D8A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196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DATA &amp; SIMULATION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4C78A2-1B42-42C9-ADCF-161BABC6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672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8644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827"/>
                </a:solidFill>
                <a:latin typeface="Arial"/>
                <a:ea typeface="Arial"/>
                <a:cs typeface="Arial"/>
              </a:rPr>
              <a:t>Synthetic case · engineering models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ACBA91-7FF9-43AE-915E-16C2D455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781675" y="46767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978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057653-36E4-4769-895D-F16B123C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610100"/>
            <a:ext cx="142875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97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2D3FC8-BECE-4309-9511-B8DD84F1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7425"/>
            <a:ext cx="23812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8EEE8"/>
          </a:solidFill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2731F4-31ED-4062-9B57-46A73F76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80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806C"/>
                </a:solidFill>
                <a:latin typeface="Arial"/>
                <a:ea typeface="Arial"/>
                <a:cs typeface="Arial"/>
              </a:rPr>
              <a:t>API &amp; ORCHESTRATION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10F197-5782-4858-9691-B0C43956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098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827"/>
                </a:solidFill>
                <a:latin typeface="Arial"/>
                <a:ea typeface="Arial"/>
                <a:cs typeface="Arial"/>
              </a:rPr>
              <a:t>React UI ↔ FastAPI contracts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E4FF4B-A396-4FF1-908C-22FC7DA9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24875" y="26193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978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9E9349-1990-4117-9CD2-74DBFE65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52700"/>
            <a:ext cx="142875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97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D897D6-7EBC-4FA4-833A-F4FAD53F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23812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8EEE8"/>
          </a:solidFill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C67E03-3775-433C-8C09-9C786B4D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909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80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806C"/>
                </a:solidFill>
                <a:latin typeface="Arial"/>
                <a:ea typeface="Arial"/>
                <a:cs typeface="Arial"/>
              </a:rPr>
              <a:t>SYSTEM 2 · 4 ROLES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1432BF-B1CA-4FDA-8D50-E344203E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678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827"/>
                </a:solidFill>
                <a:latin typeface="Arial"/>
                <a:ea typeface="Arial"/>
                <a:cs typeface="Arial"/>
              </a:rPr>
              <a:t>Planner → Research → Analysis → Execution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B250FD-108B-440B-A054-F6AFFD3E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24875" y="36480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978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9D5CE5-D08B-42D1-A72B-EC5AFA48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81400"/>
            <a:ext cx="142875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97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5816B1-5774-4E3D-812B-5EFDE16C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14825"/>
            <a:ext cx="23812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8EEE8"/>
          </a:solidFill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F90E42-396D-448C-9918-C071DA09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196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80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806C"/>
                </a:solidFill>
                <a:latin typeface="Arial"/>
                <a:ea typeface="Arial"/>
                <a:cs typeface="Arial"/>
              </a:rPr>
              <a:t>MCP TOOL LAYER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7362B8-0F44-4CF7-9338-161CCC54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672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94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827"/>
                </a:solidFill>
                <a:latin typeface="Arial"/>
                <a:ea typeface="Arial"/>
                <a:cs typeface="Arial"/>
              </a:rPr>
              <a:t>Typed, scoped evidence retrieval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CB824BB-9E3D-40B2-94A6-D37E908B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24875" y="46767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8978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9FBB227-CD86-40F1-AC2A-C97D9790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10100"/>
            <a:ext cx="142875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97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5F37DF-372A-498B-A42E-B246C4B9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57425"/>
            <a:ext cx="23812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B43954-C31A-4C36-8595-E4DD96BF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622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HUMAN DECISION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67966C-19AA-4DCD-8FF8-E73126E3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098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954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827"/>
                </a:solidFill>
                <a:latin typeface="Arial"/>
                <a:ea typeface="Arial"/>
                <a:cs typeface="Arial"/>
              </a:rPr>
              <a:t>Role-based review and audit trail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619E31E-4D15-4005-8868-A6BC7D56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86125"/>
            <a:ext cx="23812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E50683D-51DD-426B-8A6F-62A7C7BF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909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ACTION PLAN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4501672-740D-4B21-B35B-C62A19FC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905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827"/>
                </a:solidFill>
                <a:latin typeface="Arial"/>
                <a:ea typeface="Arial"/>
                <a:cs typeface="Arial"/>
              </a:rPr>
              <a:t>Scenario options · work-order draft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72F2D3-546A-4064-8387-B480B82E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14825"/>
            <a:ext cx="23812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5757EB9-372C-4C41-A774-5E9C808D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196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MEASURE &amp; LEARN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F0FA5A2-FA41-46F1-926E-2A71F7A7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672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852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827"/>
                </a:solidFill>
                <a:latin typeface="Arial"/>
                <a:ea typeface="Arial"/>
                <a:cs typeface="Arial"/>
              </a:rPr>
              <a:t>Normalize outcome; update baseline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6220BE7-7720-40A7-AFBC-ED7C9882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5448300"/>
            <a:ext cx="259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806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3E17BE2-315C-4E87-BBEC-A1F42952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14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80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806C"/>
                </a:solidFill>
                <a:latin typeface="Arial"/>
                <a:ea typeface="Arial"/>
                <a:cs typeface="Arial"/>
              </a:rPr>
              <a:t>Built in prototype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0581934-0C92-4C9A-BBB5-3A266E18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400675" y="5448300"/>
            <a:ext cx="259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45E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4C8D382-5D1B-4C7F-8EED-CDF45C00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314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C642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C642D"/>
                </a:solidFill>
                <a:latin typeface="Arial"/>
                <a:ea typeface="Arial"/>
                <a:cs typeface="Arial"/>
              </a:rPr>
              <a:t>Integration target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D9069DA-DDA9-47DE-8A29-63C4BC99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Field adapters and live equipment data are not connected. System 1 currently uses a deterministic fallback; Sol-2B is an optional local model path, not a validated GPU runtime.</a:t>
            </a:r>
          </a:p>
        </p:txBody>
      </p:sp>
    </p:spTree>
    <p:extLst>
      <p:ext uri="{BB962C8B-B14F-4D97-AF65-F5344CB8AC3E}">
        <p14:creationId xmlns:p14="http://schemas.microsoft.com/office/powerpoint/2010/main" val="13309150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731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C2C4F9-6785-4BF6-9C18-7E7708BF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FORGEOPS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4CCA9-FA52-4B23-810E-2FCD5C22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EB9B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EB9B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2107A-1F4E-4B1C-B152-769E787C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Innovation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C773C-F096-4C44-8003-62705192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651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A0482-B88F-48D2-9D8D-7BA48C6A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914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AEB9B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EB9B3"/>
                </a:solidFill>
                <a:latin typeface="Arial"/>
                <a:ea typeface="Arial"/>
                <a:cs typeface="Arial"/>
              </a:rPr>
              <a:t>INDUSTRIAL ENERGY DECISION SUPPORT  ·  HACKATHON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F648F-7182-443D-9B20-9A364770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AEB9B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EB9B3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24D4F-39E5-41FB-96CC-8318AD8B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D1D8D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1D8D3"/>
                </a:solidFill>
                <a:latin typeface="Arial"/>
                <a:ea typeface="Arial"/>
                <a:cs typeface="Arial"/>
              </a:rPr>
              <a:t>Spend reasoning effort only when the signal earns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71622-F507-41C7-BE48-1BA68553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4324350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34413B"/>
          </a:solidFill>
          <a:ln xmlns:a="http://schemas.openxmlformats.org/drawingml/2006/main" w="9525">
            <a:solidFill>
              <a:srgbClr val="5260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F6C6F-FF6C-4624-9C45-FF1EC45E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6098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9D1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D1B7"/>
                </a:solidFill>
                <a:latin typeface="Arial"/>
                <a:ea typeface="Arial"/>
                <a:cs typeface="Arial"/>
              </a:rPr>
              <a:t>SYSTEM 1 · FAST LOOP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72A40-8214-464E-9BD2-BA3F4250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9622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Screen every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5FB4C-D632-4C0C-A582-253D6957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95675"/>
            <a:ext cx="3524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1D8D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1D8D3"/>
                </a:solidFill>
                <a:latin typeface="Arial"/>
                <a:ea typeface="Arial"/>
                <a:cs typeface="Arial"/>
              </a:rPr>
              <a:t>Baseline envelope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D1D8D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1D8D3"/>
                </a:solidFill>
                <a:latin typeface="Arial"/>
                <a:ea typeface="Arial"/>
                <a:cs typeface="Arial"/>
              </a:rPr>
              <a:t>Anomaly classification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D1D8D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1D8D3"/>
                </a:solidFill>
                <a:latin typeface="Arial"/>
                <a:ea typeface="Arial"/>
                <a:cs typeface="Arial"/>
              </a:rPr>
              <a:t>Deterministic safety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F2012-9E8E-4B4E-AA4F-35F127D5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2609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54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1F7C8-732E-4907-B028-096D728C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343400"/>
            <a:ext cx="2438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D4E2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4E2D6"/>
                </a:solidFill>
                <a:latin typeface="Arial"/>
                <a:ea typeface="Arial"/>
                <a:cs typeface="Arial"/>
              </a:rPr>
              <a:t>MODEL FALLBACK ACTIVE IN 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12CCC-AA29-4118-89D8-DF649021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3500" y="348615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7A4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A0049-896F-451F-8887-18399861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19475"/>
            <a:ext cx="142875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A4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3AABE2-9546-4EF7-97D3-DD570355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43325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E2C28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2C28E"/>
                </a:solidFill>
                <a:latin typeface="Arial"/>
                <a:ea typeface="Arial"/>
                <a:cs typeface="Arial"/>
              </a:rPr>
              <a:t>Only a confirmed anomaly escalates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80778A-6BAE-449E-BF41-899809E2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62200"/>
            <a:ext cx="5267325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343C3A"/>
          </a:solidFill>
          <a:ln xmlns:a="http://schemas.openxmlformats.org/drawingml/2006/main" w="9525">
            <a:solidFill>
              <a:srgbClr val="5260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ACB7B-B823-496E-9CB1-42C8E953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09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7B28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7B28C"/>
                </a:solidFill>
                <a:latin typeface="Arial"/>
                <a:ea typeface="Arial"/>
                <a:cs typeface="Arial"/>
              </a:rPr>
              <a:t>SYSTEM 2 · DEEP INVESTIGATION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F79F83-59CA-453D-807C-6BBEF014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200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7265F4-3173-4F0C-AB15-36634A8C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2480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432428-FF8F-448D-A999-F3E492EC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67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87B85D-9A6D-41A0-8239-17077294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62775" y="3371850"/>
            <a:ext cx="485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7B2A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A1A277-7841-4141-81B7-41E03D29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05175"/>
            <a:ext cx="142875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7B2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F9501D-DAF9-47D6-98C1-997F36C7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0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E1E13B-D728-4DB8-912E-25DAD084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480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2F001D-3FA8-4CB1-97E8-6209E6A5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667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Research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954858-A1C4-4AA4-8B83-56B5979A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15300" y="3371850"/>
            <a:ext cx="485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7B2A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DFD83B-684E-4C7B-A8AE-B4C36F12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05175"/>
            <a:ext cx="142875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7B2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F29718-22BB-47A0-AC5C-B8A5B250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00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235A34-E3A3-4D34-A5FD-EBC2433F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480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88F395-8C06-4A87-8ACB-E19937FC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67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Analyze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AE485A-B3A9-4D5F-8A54-6430D943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267825" y="3371850"/>
            <a:ext cx="485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7B2A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68FC25-E1C7-4A79-B3C8-DA67C30F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05175"/>
            <a:ext cx="142875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7B2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A0FCAB-74A6-4415-AD12-F271B1F2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00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018CDF-1EFB-46DB-8BE0-705C6B4B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480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0D6746-14AE-4A19-B4A2-EF0E4F38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67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FD78EB-82A2-400A-8212-4189BCEB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181475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967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1D8D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1D8D3"/>
                </a:solidFill>
                <a:latin typeface="Arial"/>
                <a:ea typeface="Arial"/>
                <a:cs typeface="Arial"/>
              </a:rPr>
              <a:t>Causal evidence · physics checks · scenario trade-offs · human review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B9A752-59A5-4C83-88FB-AB67E9E8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differentiator is governed decision support: traceable evidence and production constraints sit beside model output.</a:t>
            </a:r>
          </a:p>
        </p:txBody>
      </p:sp>
    </p:spTree>
    <p:extLst>
      <p:ext uri="{BB962C8B-B14F-4D97-AF65-F5344CB8AC3E}">
        <p14:creationId xmlns:p14="http://schemas.microsoft.com/office/powerpoint/2010/main" val="18043985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AB5CDC-A869-43EE-B371-635AE599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FORGEOPS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45D29-74AD-4190-A8A3-5DB26090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7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4CCBB-6E54-4FBF-AE14-5F52B2B0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Expected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8EC83-91AD-45DC-947B-462483C0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390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AD6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42123-E709-4424-AF4B-9E37D5BB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914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INDUSTRIAL ENERGY DECISION SUPPORT  ·  HACKATHON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7D8D0-40B6-474B-9994-2C4B152F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58FE4-A165-4175-A8BB-20ADDDD5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The demo case models a lower SEC after a leak repair and pressure adjustment.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B8A6B-C201-4275-9142-1C9750EC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71550" y="5105400"/>
            <a:ext cx="728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AD6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3E7D3-E22B-4E78-B5C5-FDE8BC4D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38550"/>
            <a:ext cx="1200150" cy="14668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7395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293E3-486D-4D6A-9876-A21AC5DD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908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9.8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DEF03-6FE0-48F7-9BB4-CAD2C922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238750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6B"/>
                </a:solidFill>
                <a:latin typeface="Arial"/>
                <a:ea typeface="Arial"/>
                <a:cs typeface="Arial"/>
              </a:rPr>
              <a:t>NORMAL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6B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3866A-5CDA-45D8-8F4B-20181960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724150"/>
            <a:ext cx="1200150" cy="23812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BE5D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81680-7013-4469-BF91-5B29DE80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764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11.2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4B174-DA81-4453-ABE1-05F62F1B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238750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6B"/>
                </a:solidFill>
                <a:latin typeface="Arial"/>
                <a:ea typeface="Arial"/>
                <a:cs typeface="Arial"/>
              </a:rPr>
              <a:t>INCIDENT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6B"/>
                </a:solidFill>
                <a:latin typeface="Arial"/>
                <a:ea typeface="Arial"/>
                <a:cs typeface="Arial"/>
              </a:rPr>
              <a:t>+14.3%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7AF7B4-36D6-4EFD-BBCD-B427B18F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848100"/>
            <a:ext cx="1200150" cy="1257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5D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56628-5676-49DB-A3F6-3AEA0454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4004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9.2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872AF-6E00-4F15-BA7F-5566B953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238750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6B"/>
                </a:solidFill>
                <a:latin typeface="Arial"/>
                <a:ea typeface="Arial"/>
                <a:cs typeface="Arial"/>
              </a:rPr>
              <a:t>MODELED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6B"/>
                </a:solidFill>
                <a:latin typeface="Arial"/>
                <a:ea typeface="Arial"/>
                <a:cs typeface="Arial"/>
              </a:rPr>
              <a:t>AFTER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8AB054-0003-415F-AB80-4260BE0B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716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kWh per good tonne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0D0491-9639-49DD-B40E-31456FA7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52650"/>
            <a:ext cx="2952750" cy="323850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B8A3CC-99B5-42BF-A5A3-8FB338C9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3812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MODELLED CASE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9E0FFD-6E58-42EB-B09B-5B0F94E4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724150"/>
            <a:ext cx="2238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5D806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D806C"/>
                </a:solidFill>
                <a:latin typeface="Arial"/>
                <a:ea typeface="Arial"/>
                <a:cs typeface="Arial"/>
              </a:rPr>
              <a:t>−18%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A6C03E-E7C0-4E94-96A0-17FC69DC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314700"/>
            <a:ext cx="2219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versus incident peak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054185-6765-4556-AE81-2214B5E1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829675" y="3733800"/>
            <a:ext cx="243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3FFFEF-FCDE-41A0-98CD-24543EA9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9052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10.2 t/h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3F1BD6-D291-42E7-8A41-E36943B1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267200"/>
            <a:ext cx="2381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throughput constraint held in scenario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952345-AF5D-4456-B73D-32D6542B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73392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97.6%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7BEA84-F730-48AC-863F-187C185E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772025"/>
            <a:ext cx="133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yield fixture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E4D78A-767D-43DC-A05A-7A24A954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769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1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6706B"/>
                </a:solidFill>
                <a:latin typeface="Arial"/>
                <a:ea typeface="Arial"/>
                <a:cs typeface="Arial"/>
              </a:rPr>
              <a:t>Synthetic inputs; no plant measurement or independent M&amp;V.</a:t>
            </a:r>
          </a:p>
        </p:txBody>
      </p:sp>
    </p:spTree>
    <p:extLst>
      <p:ext uri="{BB962C8B-B14F-4D97-AF65-F5344CB8AC3E}">
        <p14:creationId xmlns:p14="http://schemas.microsoft.com/office/powerpoint/2010/main" val="6480860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ACC381-2BF2-42EF-B08B-ED760D78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FORGEOPS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65774-1A9E-4062-B556-D7327192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7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6D980-C24E-4491-8571-663CD5C2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Implementation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A7E41-F14B-4DE9-9CAD-F7C6B498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390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AD6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DE8C4-4C73-4777-B809-B1EFC009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914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INDUSTRIAL ENERGY DECISION SUPPORT  ·  HACKATHON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EFD56-DFA9-42E3-B750-9ED7C70F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5F4EA-D009-4F74-8F3E-80817469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Move from a synthetic workflow to a measured, site-approved pilot.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99092-BDED-478B-ACAB-B08205C3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0–30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8E4A2-1003-422D-A001-519AF725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52650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BD8D0-4219-4E8C-82DA-9FD9F840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66975" y="2333625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5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A6517-530D-419D-8FF9-5A0D415C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859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AA2C5-B469-47E3-B7D8-75AA41CF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85975"/>
            <a:ext cx="4476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Select one foundry partner; confirm meter points, product mix, tariff and data owner.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0CC29-394D-4023-BE44-415D49F6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95500"/>
            <a:ext cx="2362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C6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C642D"/>
                </a:solidFill>
                <a:latin typeface="Arial"/>
                <a:ea typeface="Arial"/>
                <a:cs typeface="Arial"/>
              </a:rPr>
              <a:t>Gate: baseline plan signed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358D5D-EEBA-44AC-B86C-FA575D35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6750" y="28289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66C3A-17C3-4C15-9BFA-0BDA0C29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31–90 DAYS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BBF484-88B9-4EB1-8DEA-3EEF4C19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05150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CC44E6-AD91-4474-8B96-76240E14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66975" y="3286125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5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6943D-23A1-4BB9-B765-881C480E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384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370979-C144-4DFE-81D8-3C983F06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4476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Install a read-only retrofit gateway and collect energy + output signals for a stable baseline.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2CB950-F074-40D9-9CCD-343A4A14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2362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C6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C642D"/>
                </a:solidFill>
                <a:latin typeface="Arial"/>
                <a:ea typeface="Arial"/>
                <a:cs typeface="Arial"/>
              </a:rPr>
              <a:t>Gate: ≥95% data completeness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E8CD60-1C13-4D79-A314-53D9F4F4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6750" y="37814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2B642E-50BC-4D36-9C76-53DF3069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3–6 MONTHS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082515-6850-4781-92E4-7E5C0228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57650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C5F383-91EE-4A70-92C2-651B9E9E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66975" y="4238625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5B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5C2B32-98DF-48ED-9F64-D67C4DB7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9909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AB128C-F3B0-45BA-ACBB-DDCEDAE3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90975"/>
            <a:ext cx="4476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Run anomaly review and shadow-mode recommendations; operator approves each intervention.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689303-2D9B-452C-B13C-860A2A23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00500"/>
            <a:ext cx="2362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806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806C"/>
                </a:solidFill>
                <a:latin typeface="Arial"/>
                <a:ea typeface="Arial"/>
                <a:cs typeface="Arial"/>
              </a:rPr>
              <a:t>Gate: no quality / throughput regression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40432A-13FD-44AE-BC61-CAF27A92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6750" y="47339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FC9FD6-A0C8-4AE4-9FDC-3171BACE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6–12 MONTHS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892343-0808-41EA-8C4F-0CE3B747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10150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57CF1E-CA62-4E74-B3E7-141DC92D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434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1A4487-12FD-45D5-9EB5-C79D0BDC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43475"/>
            <a:ext cx="4476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Compare normalized SEC, document payback; replicate through cluster and auditor channels.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C4051C-258F-45F3-9B47-5601C7B6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953000"/>
            <a:ext cx="2362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806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806C"/>
                </a:solidFill>
                <a:latin typeface="Arial"/>
                <a:ea typeface="Arial"/>
                <a:cs typeface="Arial"/>
              </a:rPr>
              <a:t>Gate: third-party M&amp;V review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05C03F-F5C4-466D-BE36-49661F07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6750" y="56864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EC9B0E-543E-449B-B07B-A5F9D89A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3067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B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0EC4B3-446A-4880-868D-96A3014B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038850"/>
            <a:ext cx="2895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D8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806C"/>
                </a:solidFill>
                <a:latin typeface="Arial"/>
                <a:ea typeface="Arial"/>
                <a:cs typeface="Arial"/>
              </a:rPr>
              <a:t>NO AUTOMATIC MACHINE WRITES IN PILOT</a:t>
            </a:r>
          </a:p>
        </p:txBody>
      </p:sp>
    </p:spTree>
    <p:extLst>
      <p:ext uri="{BB962C8B-B14F-4D97-AF65-F5344CB8AC3E}">
        <p14:creationId xmlns:p14="http://schemas.microsoft.com/office/powerpoint/2010/main" val="1358273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EE3A6E-5764-4AA3-9398-F88BC113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FORGEOPS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607E7-1BE4-447B-AB23-ACEC4BCE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7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D1CFA-4742-4608-99FF-F0372117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Team Introduction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0131C-2F69-4E5E-94AA-0E3DFB42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390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AD6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65E09-58D7-4CAE-821F-CE0EE739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914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INDUSTRIAL ENERGY DECISION SUPPORT  ·  HACKATHON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36E55-97A0-4C1C-AB3F-461FF973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E9211-F503-4015-AD96-E06C8CEF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Add a photo, name, profile links, and a short bio for each team member.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8CE16-4CB6-447E-AE1A-224F67B1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4A2358-67ED-474E-B6CF-89ECC39E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4AA23-B201-4520-B615-6F660085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8629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[Team member 1 name]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C6B76-63BC-4C1B-90EA-C8440E4D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2333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About you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8BF96-DD42-4D0D-8894-1FBD733E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4850" y="4391025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AD6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44527A-E93C-47D5-9A54-2008ED7E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43425"/>
            <a:ext cx="2247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Experience &amp; achievements: [add a short summary]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E12088-191D-40E8-A26E-0C0D37B0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66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8CC857-2B12-4E21-8353-F37503E1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03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0AC3E-7195-45D6-8E2E-A4B21CAD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337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8629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[Team member 2 name]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EE400-D88D-4F91-B7D8-2F42606C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71875"/>
            <a:ext cx="2333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About you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5E261-B090-4BF9-9BD7-E3D80968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476625" y="4391025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AD6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ACFA9-4CE3-46C8-BBDB-EDE45CBE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43425"/>
            <a:ext cx="2247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Experience &amp; achievements: [add a short summary]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939379-C63D-4FF8-995C-62FAE6FC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FB7084-1636-4C4E-8E46-31911CDC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03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32DCC0-9A22-437C-A502-C425F4C5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337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8629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[Team member 3 name]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DCA0DA-8AE7-46EF-BF94-3B18A06D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71875"/>
            <a:ext cx="2333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About you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E8DAA-20C7-4398-A4B4-8A28CCF1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48400" y="4391025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AD6C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D80C0C-F2FA-4A10-A1CB-273FF5D3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43425"/>
            <a:ext cx="2247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Experience &amp; achievements: [add a short summary]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922229-F840-495E-8FD2-C9EBFE62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266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8DDFA1-C475-4A64-970F-EA98B917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003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35145B-A2E4-4AFB-9161-07695128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337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8629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[Team member 4 name]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E2036F-BF01-4203-8037-6177BE37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571875"/>
            <a:ext cx="2333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About you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DA13BC-7814-44AC-B8B9-DEAD6F5F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0175" y="4391025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AD6C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D2859F-BAFA-4F9A-9B19-D0FA996B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543425"/>
            <a:ext cx="2247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Experience &amp; achievements: [add a short summary]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E58CE3-FAED-4F43-94C2-9190EA9C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91175"/>
            <a:ext cx="10572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1E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DEE915-78C1-4643-ABBD-E2D98E05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657850"/>
            <a:ext cx="1009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456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4562F"/>
                </a:solidFill>
                <a:latin typeface="Arial"/>
                <a:ea typeface="Arial"/>
                <a:cs typeface="Arial"/>
              </a:rPr>
              <a:t>Editable placeholders — add professional photos, names, experience, achievements, LinkedIn links, and GitHub profile links.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C1521A-BE89-482C-8568-6E339D5A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2143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9525">
            <a:solidFill>
              <a:srgbClr val="F5F2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268B38-5B64-45DA-9D46-51E255D1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CE7DD"/>
          </a:solidFill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FA1A82-AE12-4DC0-B566-3651C032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76475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6B"/>
                </a:solidFill>
                <a:latin typeface="Arial"/>
                <a:ea typeface="Arial"/>
                <a:cs typeface="Arial"/>
              </a:rPr>
              <a:t>ADD PHOTO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642E77-17CB-4FF5-8E29-DADA6904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9675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95F49"/>
                </a:solidFill>
                <a:latin typeface="Arial"/>
                <a:ea typeface="Arial"/>
                <a:cs typeface="Arial"/>
              </a:rPr>
              <a:t>LinkedIn: [add profile URL]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44B03F-D9BF-495A-8E7B-34AA94D3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95F49"/>
                </a:solidFill>
                <a:latin typeface="Arial"/>
                <a:ea typeface="Arial"/>
                <a:cs typeface="Arial"/>
              </a:rPr>
              <a:t>GitHub: [add profile URL]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3F0DE-9610-443E-9307-EB84087E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143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9525">
            <a:solidFill>
              <a:srgbClr val="F5F2E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9654DF-E6C0-408A-B85D-4F3E04B1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CE7DD"/>
          </a:solidFill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95B990-DC94-4FAB-8CAD-5F466A41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76475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6B"/>
                </a:solidFill>
                <a:latin typeface="Arial"/>
                <a:ea typeface="Arial"/>
                <a:cs typeface="Arial"/>
              </a:rPr>
              <a:t>ADD PHOTO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64BDD6-CADE-4BAC-9B50-6BA9F69B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19675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95F49"/>
                </a:solidFill>
                <a:latin typeface="Arial"/>
                <a:ea typeface="Arial"/>
                <a:cs typeface="Arial"/>
              </a:rPr>
              <a:t>LinkedIn: [add profile URL]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30C008-0BD3-4B35-BCDF-6BA5AAAE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23875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95F49"/>
                </a:solidFill>
                <a:latin typeface="Arial"/>
                <a:ea typeface="Arial"/>
                <a:cs typeface="Arial"/>
              </a:rPr>
              <a:t>GitHub: [add profile URL]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331ED8-420A-48F7-A515-87EF8B6A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2143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9525">
            <a:solidFill>
              <a:srgbClr val="F5F2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9218A7-A0C1-4546-B4AC-A344ABD7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CE7DD"/>
          </a:solidFill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63CE5A-B48F-403F-8CD3-7338086C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76475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6B"/>
                </a:solidFill>
                <a:latin typeface="Arial"/>
                <a:ea typeface="Arial"/>
                <a:cs typeface="Arial"/>
              </a:rPr>
              <a:t>ADD PHOTO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0D440E-3E5F-45AC-8859-D8997277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19675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95F49"/>
                </a:solidFill>
                <a:latin typeface="Arial"/>
                <a:ea typeface="Arial"/>
                <a:cs typeface="Arial"/>
              </a:rPr>
              <a:t>LinkedIn: [add profile URL]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CEFAEC-52B9-430D-8FF1-BD58E0AE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3875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95F49"/>
                </a:solidFill>
                <a:latin typeface="Arial"/>
                <a:ea typeface="Arial"/>
                <a:cs typeface="Arial"/>
              </a:rPr>
              <a:t>GitHub: [add profile URL]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BC0CF1-FBC2-4E05-AD55-974FA8B7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190750"/>
            <a:ext cx="2143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9525">
            <a:solidFill>
              <a:srgbClr val="F5F2E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82911B-8BF5-4B8F-8F57-42CCEDB2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190750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CE7DD"/>
          </a:solidFill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6B1215-A2BF-4910-9799-56197A74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276475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6B"/>
                </a:solidFill>
                <a:latin typeface="Arial"/>
                <a:ea typeface="Arial"/>
                <a:cs typeface="Arial"/>
              </a:rPr>
              <a:t>ADD PHOTO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F4B112-CF8A-4BDA-BF85-8B1AE5A4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019675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95F49"/>
                </a:solidFill>
                <a:latin typeface="Arial"/>
                <a:ea typeface="Arial"/>
                <a:cs typeface="Arial"/>
              </a:rPr>
              <a:t>LinkedIn: [add profile URL]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4E4F28F-839B-4119-82DE-8DF1CAF7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23875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95F49"/>
                </a:solidFill>
                <a:latin typeface="Arial"/>
                <a:ea typeface="Arial"/>
                <a:cs typeface="Arial"/>
              </a:rPr>
              <a:t>GitHub: [add profile URL]</a:t>
            </a:r>
          </a:p>
        </p:txBody>
      </p:sp>
    </p:spTree>
    <p:extLst>
      <p:ext uri="{BB962C8B-B14F-4D97-AF65-F5344CB8AC3E}">
        <p14:creationId xmlns:p14="http://schemas.microsoft.com/office/powerpoint/2010/main" val="17295694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C763CA-8482-493A-8BF6-CDADD456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FORGEOPS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7B2CA-04E7-48DA-BFCA-100FDF2C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7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5A9CA-9BA8-4798-A472-24FE9EBA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Product Demo: Plant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19198-F6D9-4EE7-AE64-6E0BBD22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390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AD6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31284-A270-48D6-BDB4-08F9C775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914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INDUSTRIAL ENERGY DECISION SUPPORT  ·  HACKATHON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A6BC4-56F0-4B7E-9E70-C15129FA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443EE-7209-493C-9BB3-F63A0C66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Current ForgeOps Energy app screen · synthetic demonstration fixtures.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ECC4F-2EDC-421C-8C7A-ACFAF354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3505200"/>
          </a:xfrm>
          <a:prstGeom xmlns:a="http://schemas.openxmlformats.org/drawingml/2006/main" prst="roundRect">
            <a:avLst>
              <a:gd name="adj" fmla="val 4076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1430">
            <a:solidFill>
              <a:srgbClr val="DAD6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24A74-F51F-41F4-8DE2-24DE60C1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419100"/>
          </a:xfrm>
          <a:prstGeom xmlns:a="http://schemas.openxmlformats.org/drawingml/2006/main" prst="roundRect">
            <a:avLst>
              <a:gd name="adj" fmla="val 34091"/>
            </a:avLst>
          </a:prstGeom>
          <a:solidFill xmlns:a="http://schemas.openxmlformats.org/drawingml/2006/main">
            <a:srgbClr val="273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FA046-0A85-4720-B7A9-59C19854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109728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45EA0-C6DE-4EB3-B92F-B6C9330E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FORGEOPS ENERGY  /  BELGAUM FOUNDRY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4A80A-C326-4B1E-9D67-98A524EA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7170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54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ED726-F285-4A5B-A407-79534522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1907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D4E2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4E2D6"/>
                </a:solidFill>
                <a:latin typeface="Arial"/>
                <a:ea typeface="Arial"/>
                <a:cs typeface="Arial"/>
              </a:rPr>
              <a:t>DEMO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C19E2-0116-42E1-9A3C-5017873B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6B"/>
                </a:solidFill>
                <a:latin typeface="Arial"/>
                <a:ea typeface="Arial"/>
                <a:cs typeface="Arial"/>
              </a:rPr>
              <a:t>NORMAL SEC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A9390-7548-4D09-9CA8-40ED8975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7395A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395A0"/>
                </a:solidFill>
                <a:latin typeface="Arial"/>
                <a:ea typeface="Arial"/>
                <a:cs typeface="Arial"/>
              </a:rPr>
              <a:t>9.8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B19440-EFF3-48D8-A95B-9465BE72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kWh / good 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63A2F4-47B7-40D0-A77C-E7066F32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6B"/>
                </a:solidFill>
                <a:latin typeface="Arial"/>
                <a:ea typeface="Arial"/>
                <a:cs typeface="Arial"/>
              </a:rPr>
              <a:t>CURRENT SEC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49062-AECE-4DF8-B974-EEFAF677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527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BE5D5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E5D59"/>
                </a:solidFill>
                <a:latin typeface="Arial"/>
                <a:ea typeface="Arial"/>
                <a:cs typeface="Arial"/>
              </a:rPr>
              <a:t>11.2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40AEEC-E9D3-4373-B3E7-300E7691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+14.3%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47C69-704F-4F93-8AF5-ABA6E958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6B"/>
                </a:solidFill>
                <a:latin typeface="Arial"/>
                <a:ea typeface="Arial"/>
                <a:cs typeface="Arial"/>
              </a:rPr>
              <a:t>THROUGHPUT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04324D-71AE-4C64-8F75-8161DB6F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5D806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D806C"/>
                </a:solidFill>
                <a:latin typeface="Arial"/>
                <a:ea typeface="Arial"/>
                <a:cs typeface="Arial"/>
              </a:rPr>
              <a:t>10.2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6ED7E0-BE86-42A2-AA63-20AAE7FD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290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t / 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C91FB3-C627-4E96-9283-925EC1D8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714625"/>
            <a:ext cx="37719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5E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E32B6C-4E9A-41C2-97C0-BEF3F23B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838450"/>
            <a:ext cx="338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E5D5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E5D59"/>
                </a:solidFill>
                <a:latin typeface="Arial"/>
                <a:ea typeface="Arial"/>
                <a:cs typeface="Arial"/>
              </a:rPr>
              <a:t>SEC anomaly on Line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491974-C360-4E26-9228-978A4118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162300"/>
            <a:ext cx="3362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985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827"/>
                </a:solidFill>
                <a:latin typeface="Arial"/>
                <a:ea typeface="Arial"/>
                <a:cs typeface="Arial"/>
              </a:rPr>
              <a:t>Compressed-air leak hypothesis · review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EC22EE-9074-4934-A829-D21A9124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962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6B"/>
                </a:solidFill>
                <a:latin typeface="Arial"/>
                <a:ea typeface="Arial"/>
                <a:cs typeface="Arial"/>
              </a:rPr>
              <a:t>SEC TREND · SCENARIO TRACE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7C6F8C-0CFF-4F33-8400-502DA3AC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52500" y="5172075"/>
            <a:ext cx="10039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AD6C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B3754E-E6C2-4B86-88E3-96CF505C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90625" y="4867275"/>
            <a:ext cx="14001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806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7C1A1E-6427-4D18-AFF3-53D6FAAA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90800" y="4648200"/>
            <a:ext cx="1400175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806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B57AB6-3CF5-443C-9362-5B4CC44E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990975" y="4533900"/>
            <a:ext cx="140017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806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DFA2BF-501A-4CDB-A387-10D1494D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91150" y="4533900"/>
            <a:ext cx="140017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806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8B03AC-5645-4432-8AC9-B39E57B2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91325" y="4276725"/>
            <a:ext cx="140017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806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DE1D23-F565-4627-BD26-A0D0F8EB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191500" y="4057650"/>
            <a:ext cx="1400175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E5D5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15E525-C39E-4187-90FC-529BA28C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591675" y="4057650"/>
            <a:ext cx="13144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E5D5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9B9D3F-706D-4085-9BA0-9DE3FA07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765EA6-5775-407E-809A-3BEC8473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867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BC9037-EFB7-4A2F-BE53-124AE0C7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600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434D59-EFF9-4267-9A23-E7FBA59B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486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C1D619-DEA4-44F7-911B-67223BF7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72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8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BFCE91-FA0E-4CF1-92C1-41D2F588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29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5D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EB0E2B-D83A-4858-970C-F4F2AFA4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10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5D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FCD7C4-C2DA-49D0-BFFC-37A21B2E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5D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0748C5-89CC-4300-8B8B-F6E0713A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48275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Baseline envelope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385547-E96D-4388-AE22-6CDCAB1F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8100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E5D5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E5D59"/>
                </a:solidFill>
                <a:latin typeface="Arial"/>
                <a:ea typeface="Arial"/>
                <a:cs typeface="Arial"/>
              </a:rPr>
              <a:t>ANOMALY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CBD141-0021-4429-AA81-43898D8B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483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1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6706B"/>
                </a:solidFill>
                <a:latin typeface="Arial"/>
                <a:ea typeface="Arial"/>
                <a:cs typeface="Arial"/>
              </a:rPr>
              <a:t>Interface illustration; values are synthetic. Live plant connection is not enabled.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C34A6C-3281-4712-96F1-AB17AC9C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9525">
            <a:solidFill>
              <a:srgbClr val="F5F2EB"/>
            </a:solidFill>
            <a:prstDash val="solid"/>
          </a:ln>
        </p:spPr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fbb9e0f43447a"/>
          <a:stretch xmlns:a="http://schemas.openxmlformats.org/drawingml/2006/main"/>
        </p:blipFill>
        <p:spPr>
          <a:xfrm xmlns:a="http://schemas.openxmlformats.org/drawingml/2006/main">
            <a:off x="652816" y="2038350"/>
            <a:ext cx="7228768" cy="4067175"/>
          </a:xfrm>
          <a:prstGeom xmlns:a="http://schemas.openxmlformats.org/drawingml/2006/main" prst="roundRect">
            <a:avLst>
              <a:gd name="adj" fmla="val 1405"/>
            </a:avLst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BE21C0-910B-4199-BDFE-FB12D764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145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PRODUCT SCREEN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2BBBC0-DCC7-4426-B8F6-FB7A291F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907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Plant overview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2CA416-542D-4606-BEA1-576388D3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Energy and production KPIs, opportunities, and an explicit synthetic-data notice are visible in the current local app build.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E606123-4B40-4196-807F-38F2B25B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576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The hosted site may show an earlier deployment than this source snapshot.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A2670FA-BBED-41A4-B0AA-8909180E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005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8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806C"/>
                </a:solidFill>
                <a:latin typeface="Arial"/>
                <a:ea typeface="Arial"/>
                <a:cs typeface="Arial"/>
              </a:rPr>
              <a:t>OPEN THE HOSTED WEBSITE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618E417-C915-482C-B018-34BEA061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3865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050" b="1" u="sng">
                <a:solidFill>
                  <a:srgbClr val="B95F49"/>
                </a:solidFill>
                <a:latin typeface="Arial"/>
                <a:ea typeface="Arial"/>
                <a:cs typeface="Arial"/>
                <a:hlinkClick xmlns:r="http://schemas.openxmlformats.org/officeDocument/2006/relationships" r:id="Rb6ee23ed712b4d73"/>
              </a:rPr>
              <a:t>https://forge-ops-energy.vercel.app/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09C5588-AFBF-455B-ABDA-D74753BF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76800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8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806C"/>
                </a:solidFill>
                <a:latin typeface="Arial"/>
                <a:ea typeface="Arial"/>
                <a:cs typeface="Arial"/>
              </a:rPr>
              <a:t>Project source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93CA363-BD66-4F7E-8904-CAA603A2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149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050" b="1" u="sng">
                <a:solidFill>
                  <a:srgbClr val="B95F49"/>
                </a:solidFill>
                <a:latin typeface="Arial"/>
                <a:ea typeface="Arial"/>
                <a:cs typeface="Arial"/>
                <a:hlinkClick xmlns:r="http://schemas.openxmlformats.org/officeDocument/2006/relationships" r:id="R5147a468c7d7466f"/>
              </a:rPr>
              <a:t>GitHub repository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38941FC-BE94-49F4-AD8B-8299911E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625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Repository access may be restricted.</a:t>
            </a:r>
          </a:p>
        </p:txBody>
      </p:sp>
    </p:spTree>
    <p:extLst>
      <p:ext uri="{BB962C8B-B14F-4D97-AF65-F5344CB8AC3E}">
        <p14:creationId xmlns:p14="http://schemas.microsoft.com/office/powerpoint/2010/main" val="7631348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0D99A6-716B-4971-96CF-C53FC561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FORGEOPS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F6357-1477-4673-840B-5A8492F5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7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15DE7-316E-47D3-8086-901BAD17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Product Demo: Investigation &amp; Approval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16020-9BDD-4E87-A0E6-8831187F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390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AD6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14DEE-516D-4258-83CC-7F7A5C6C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914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INDUSTRIAL ENERGY DECISION SUPPORT  ·  HACKATHON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51A0C-58B4-48AD-81C3-C77DC5A6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63306-3DED-42A8-96CB-56F185AD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Current ForgeOps Energy app screen · synthetic demonstration fixtures.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7C8F8-32EE-4B29-BCFC-9A74B890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10934700" cy="3352800"/>
          </a:xfrm>
          <a:prstGeom xmlns:a="http://schemas.openxmlformats.org/drawingml/2006/main" prst="roundRect">
            <a:avLst>
              <a:gd name="adj" fmla="val 3977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E541B-66AF-4BEF-BA77-2A6901E8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COMPETING CAUSES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A9F73-20BD-482F-A8BC-DA9352C9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479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Manifold gasket leak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61088-8D81-4DEB-8CBF-2D716910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9425"/>
            <a:ext cx="3209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Pressure drop + compressor load align with the SEC spike.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1642E-65E6-4E79-8B5D-D5DD55C9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05225"/>
            <a:ext cx="1866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B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89620-1DF8-4A2B-A360-2D3D8CBB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24275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D8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806C"/>
                </a:solidFill>
                <a:latin typeface="Arial"/>
                <a:ea typeface="Arial"/>
                <a:cs typeface="Arial"/>
              </a:rPr>
              <a:t>LEADING HYPOTHESIS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AF06F-45FD-42ED-8F2E-145DBA45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24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WHAT-IF OPTIONS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F6940-73EB-463B-9CCE-9B8ACE62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38425"/>
            <a:ext cx="200025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52ED6-CBE3-479E-9A57-77B3444F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43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395A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95A0"/>
                </a:solidFill>
                <a:latin typeface="Arial"/>
                <a:ea typeface="Arial"/>
                <a:cs typeface="Arial"/>
              </a:rPr>
              <a:t>OPTION 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E8D881-877C-4899-841D-51AE6B74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90850"/>
            <a:ext cx="1743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Seal repair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A26001-BCAB-48A0-990D-05A1B15B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71850"/>
            <a:ext cx="1743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395A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395A0"/>
                </a:solidFill>
                <a:latin typeface="Arial"/>
                <a:ea typeface="Arial"/>
                <a:cs typeface="Arial"/>
              </a:rPr>
              <a:t>SEC 9.8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57D77-7C42-493D-94B8-D2BAE138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67125"/>
            <a:ext cx="1752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₹9.5k · 48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27A126-A269-4426-A4D2-303BC253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638425"/>
            <a:ext cx="200025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2EBE3"/>
          </a:solidFill>
          <a:ln xmlns:a="http://schemas.openxmlformats.org/drawingml/2006/main" w="19050">
            <a:solidFill>
              <a:srgbClr val="5D806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B1F2E3-7FBD-49C0-B33C-715F5473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43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D8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806C"/>
                </a:solidFill>
                <a:latin typeface="Arial"/>
                <a:ea typeface="Arial"/>
                <a:cs typeface="Arial"/>
              </a:rPr>
              <a:t>OPTION 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7D1612-4C50-4D41-87F2-2D190C00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90850"/>
            <a:ext cx="1743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Repair + tune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818DB9-BAE5-42DF-9C90-4ACABE2A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71850"/>
            <a:ext cx="1743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806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D806C"/>
                </a:solidFill>
                <a:latin typeface="Arial"/>
                <a:ea typeface="Arial"/>
                <a:cs typeface="Arial"/>
              </a:rPr>
              <a:t>SEC 9.2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0C79E7-B653-4854-86DC-AA4C0FE7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67125"/>
            <a:ext cx="1752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₹9.5k · 1.5 mo model payback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68426D-F908-4188-B49F-CD29C00D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38425"/>
            <a:ext cx="200025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CCC840-E0B9-4423-B681-AB108E80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43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7A4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7A45E"/>
                </a:solidFill>
                <a:latin typeface="Arial"/>
                <a:ea typeface="Arial"/>
                <a:cs typeface="Arial"/>
              </a:rPr>
              <a:t>OPTION 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48C565-9343-4E0A-B0D5-1FDBEA38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90850"/>
            <a:ext cx="1743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Replace compressor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BB2844-906D-4EA9-993B-0E8031F3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71850"/>
            <a:ext cx="1743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7A45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7A45E"/>
                </a:solidFill>
                <a:latin typeface="Arial"/>
                <a:ea typeface="Arial"/>
                <a:cs typeface="Arial"/>
              </a:rPr>
              <a:t>SEC scenario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93D88A-BCE9-4B77-98EE-CD553B79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67125"/>
            <a:ext cx="1752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₹14.5L · 18 mo model payback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6FFCC7-4145-41F7-B578-97516A56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8200" y="4238625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21CC62-FBA5-4765-80E5-433042E0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Approval gate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4AF4BE-A7C7-4F8F-852B-AFA35E08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410075"/>
            <a:ext cx="8210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Plant lead reviews constraints and evidence; the prototype does not dispatch a real work order.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6D34F6-98E8-4077-8671-9686DE45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1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6706B"/>
                </a:solidFill>
                <a:latin typeface="Arial"/>
                <a:ea typeface="Arial"/>
                <a:cs typeface="Arial"/>
              </a:rPr>
              <a:t>All option outputs and payback figures are scenario estimates from synthetic inputs.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E0FAFF-2C4B-4942-9E53-35FB73A8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B"/>
          </a:solidFill>
          <a:ln xmlns:a="http://schemas.openxmlformats.org/drawingml/2006/main" w="9525">
            <a:solidFill>
              <a:srgbClr val="F5F2EB"/>
            </a:solidFill>
            <a:prstDash val="solid"/>
          </a:ln>
        </p:spPr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2bdb1ba454fa3"/>
          <a:stretch xmlns:a="http://schemas.openxmlformats.org/drawingml/2006/main"/>
        </p:blipFill>
        <p:spPr>
          <a:xfrm xmlns:a="http://schemas.openxmlformats.org/drawingml/2006/main">
            <a:off x="652816" y="2038350"/>
            <a:ext cx="7228768" cy="4067175"/>
          </a:xfrm>
          <a:prstGeom xmlns:a="http://schemas.openxmlformats.org/drawingml/2006/main" prst="roundRect">
            <a:avLst>
              <a:gd name="adj" fmla="val 1405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AB2875-CB70-4E91-8D2C-C2DB672B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145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PRODUCT SCREEN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F4C730-CCB9-4048-A465-CB72AFC8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907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Investigation workspace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EE245C-E520-4F5F-87F1-D968468A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81325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Four-role analysis, evidence review, competing hypotheses, and a human decision gate.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ED3A10-C862-4602-A5BE-11378999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4332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Shown values are synthetic. The prototype records demo approvals; it does not dispatch a live CMMS work order.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F1E653-864A-4714-B5E3-748F44EE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672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8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806C"/>
                </a:solidFill>
                <a:latin typeface="Arial"/>
                <a:ea typeface="Arial"/>
                <a:cs typeface="Arial"/>
              </a:rPr>
              <a:t>Website and source links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825EC7-75A8-4D63-959E-E7619E4A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053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050" b="1" u="sng">
                <a:solidFill>
                  <a:srgbClr val="B95F49"/>
                </a:solidFill>
                <a:latin typeface="Arial"/>
                <a:ea typeface="Arial"/>
                <a:cs typeface="Arial"/>
                <a:hlinkClick xmlns:r="http://schemas.openxmlformats.org/officeDocument/2006/relationships" r:id="R7b9c366a2e7147e0"/>
              </a:rPr>
              <a:t>ForgeOps Energy website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A04DE7-C066-4DDB-9780-8F0EF931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53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050" b="1" u="sng">
                <a:solidFill>
                  <a:srgbClr val="B95F49"/>
                </a:solidFill>
                <a:latin typeface="Arial"/>
                <a:ea typeface="Arial"/>
                <a:cs typeface="Arial"/>
                <a:hlinkClick xmlns:r="http://schemas.openxmlformats.org/officeDocument/2006/relationships" r:id="Rd8a4d31f8a454eab"/>
              </a:rPr>
              <a:t>Project GitHub repository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94E4D1-26B6-426D-9377-312CE828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76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Team profiles are placeholders on slide 9.</a:t>
            </a:r>
          </a:p>
        </p:txBody>
      </p:sp>
    </p:spTree>
    <p:extLst>
      <p:ext uri="{BB962C8B-B14F-4D97-AF65-F5344CB8AC3E}">
        <p14:creationId xmlns:p14="http://schemas.microsoft.com/office/powerpoint/2010/main" val="16454285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0A81F1-8491-4D5B-BD96-A04AF473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FORGEOPS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A89E4-AF54-4441-B154-D395B714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7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84CED-08D4-4C7D-B1C0-1EB9F327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Market, Business Viability &amp; Revenue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5C2F2-5ED3-4540-AFF0-B4935471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390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AD6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B8888-537C-4A48-86F3-CCFA9F7A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914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INDUSTRIAL ENERGY DECISION SUPPORT  ·  HACKATHON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5EC75-E539-4E24-B769-3CB609C9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41B88-7A9F-4A6F-A1DA-E3B94427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954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Start where energy audits, retrofit decisions and financing already meet.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15C2B-192F-4FAB-9317-D2481F9A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BEACHHEAD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2C642-3EBA-4EFD-A383-3871FBEE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90775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Foundry &amp; forging SMEs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90045-85FC-4B9E-A171-A7326879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3171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ADEETIE spans 60 clusters and 14 energy-intensive sectors. BEE describes an initial coverage of about 9,000 units.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F2F40-CEBC-4C46-B2E8-D8580723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3825"/>
            <a:ext cx="1828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9,000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4EDF9-7775-4057-B8F1-67C58D91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291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potential initial units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9A516-8A80-4FD0-AC96-D6B78B07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095750" y="2095500"/>
            <a:ext cx="0" cy="3257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AD6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3779A-480C-4C55-9421-13D04DAB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D8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806C"/>
                </a:solidFill>
                <a:latin typeface="Arial"/>
                <a:ea typeface="Arial"/>
                <a:cs typeface="Arial"/>
              </a:rPr>
              <a:t>REVENUE MODEL · PRICING ASSUMPTIONS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20842-06FF-4CBB-8281-0763FB8A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193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₹45k–₹1.2L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164D2-209F-445D-AC45-44BBD161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003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gateway + installation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489B0-C65B-4B58-A02D-04C5950A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09925"/>
            <a:ext cx="2333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₹6k / month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B1750-6C50-4763-9609-09B6B4E5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909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site subscription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3BB10-F01E-4D30-AE9D-479B0659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7B018F-3C9D-4DAC-996C-7DE322A9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100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827"/>
                </a:solidFill>
                <a:latin typeface="Arial"/>
                <a:ea typeface="Arial"/>
                <a:cs typeface="Arial"/>
              </a:rPr>
              <a:t>Energy audit / DPR / M&amp;V via qualified partners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FA2F47-D0D6-433B-8AF3-033C0D16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96325" y="2095500"/>
            <a:ext cx="0" cy="3257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AD6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A1B657-1FDA-474D-BC65-4AF37015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145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5F49"/>
                </a:solidFill>
                <a:latin typeface="Arial"/>
                <a:ea typeface="Arial"/>
                <a:cs typeface="Arial"/>
              </a:rPr>
              <a:t>ILLUSTRATIVE SITE ECONOMICS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C3BE2C-F5B0-4B0A-95B3-FD17F8F1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28875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3.65 GWh/y × ₹7.80/kWh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2F1F77-7E13-4FC5-A201-8DD806C0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09875"/>
            <a:ext cx="25050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10% energy reduction → ₹28.47L gross annual savings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57D28B-D964-41DF-B1AA-7B9DD375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90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₹0.72L/y subscription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E9E0E1-48E3-418C-895B-DBCF91FB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90950"/>
            <a:ext cx="2533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806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D806C"/>
                </a:solidFill>
                <a:latin typeface="Arial"/>
                <a:ea typeface="Arial"/>
                <a:cs typeface="Arial"/>
              </a:rPr>
              <a:t>₹1.2L install → ~0.52-month simple payback*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69BA4F-3951-4E23-919B-168A68BB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00550"/>
            <a:ext cx="2419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1E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5AE235-FDAB-46B0-9EAE-61D535A8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86275"/>
            <a:ext cx="2200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4562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4562F"/>
                </a:solidFill>
                <a:latin typeface="Arial"/>
                <a:ea typeface="Arial"/>
                <a:cs typeface="Arial"/>
              </a:rPr>
              <a:t>Modeled, not customer-verified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F57E7E-82F4-4D4A-9EF0-74A32FE2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5324475"/>
            <a:ext cx="10848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6C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020AEE-5CE4-455D-8C7A-1FDAC1DB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82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2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827"/>
                </a:solidFill>
                <a:latin typeface="Arial"/>
                <a:ea typeface="Arial"/>
                <a:cs typeface="Arial"/>
              </a:rPr>
              <a:t>3.65 GWh × ₹7.80 = ₹2.847cr annual bill; ₹28.47L gross savings − ₹0.72L SaaS = ₹27.75L net annual benefit. Illustrative only.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65C3B8-18A1-40AC-B234-F5455ECC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9775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B"/>
                </a:solidFill>
                <a:latin typeface="Arial"/>
                <a:ea typeface="Arial"/>
                <a:cs typeface="Arial"/>
              </a:rPr>
              <a:t>*Assumptions: 3.65 GWh/year site baseline, ₹7.80/kWh, 10% savings, ₹1.2L install and ₹6k/month software. Excludes finance, maintenance, tax and downtime. Scenario only.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31C333-D85C-43FC-BEA3-6C97DA97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0077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5F49"/>
                </a:solidFill>
                <a:latin typeface="Arial"/>
                <a:ea typeface="Arial"/>
                <a:cs typeface="Arial"/>
              </a:defRPr>
            </a:pPr>
            <a:r>
              <a:rPr sz="1050" b="1" u="sng">
                <a:solidFill>
                  <a:srgbClr val="B95F49"/>
                </a:solidFill>
                <a:latin typeface="Arial"/>
                <a:ea typeface="Arial"/>
                <a:cs typeface="Arial"/>
                <a:hlinkClick xmlns:r="http://schemas.openxmlformats.org/officeDocument/2006/relationships" r:id="R2055483be7964278"/>
              </a:rPr>
              <a:t>Project GitHub: github.com/shalcoder/ForgeOps-Energy (access may be required)</a:t>
            </a:r>
          </a:p>
        </p:txBody>
      </p:sp>
    </p:spTree>
    <p:extLst>
      <p:ext uri="{BB962C8B-B14F-4D97-AF65-F5344CB8AC3E}">
        <p14:creationId xmlns:p14="http://schemas.microsoft.com/office/powerpoint/2010/main" val="13598966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2026-10-04T10:18:52.3640000Z</dcterms:created>
  <dcterms:modified xsi:type="dcterms:W3CDTF">2026-10-04T10:18:52.3640000Z</dcterms:modified>
</coreProperties>
</file>